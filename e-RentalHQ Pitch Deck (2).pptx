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4178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e-Rentalhq@gmail.co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456"/>
            <a:ext cx="9144000" cy="5143500"/>
          </a:xfrm>
          <a:prstGeom prst="rect">
            <a:avLst/>
          </a:prstGeom>
          <a:solidFill>
            <a:srgbClr val="0F3460">
              <a:alpha val="45000"/>
            </a:srgbClr>
          </a:solidFill>
          <a:ln w="12700">
            <a:solidFill>
              <a:srgbClr val="0F34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G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kern="0" spc="-200" dirty="0">
                <a:solidFill>
                  <a:srgbClr val="FFFFFF"/>
                </a:solidFill>
              </a:rPr>
              <a:t>e-</a:t>
            </a:r>
            <a:r>
              <a:rPr lang="en-US" sz="6400" b="1" kern="0" spc="-200" dirty="0" err="1">
                <a:solidFill>
                  <a:srgbClr val="FFFFFF"/>
                </a:solidFill>
              </a:rPr>
              <a:t>RentalHQ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CCCCC"/>
                </a:solidFill>
              </a:rPr>
              <a:t>No Agents.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CCCCCC"/>
                </a:solidFill>
              </a:rPr>
              <a:t>Direct connection.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rgbClr val="CCCCCC"/>
                </a:solidFill>
              </a:rPr>
              <a:t>Smart Payment.</a:t>
            </a:r>
          </a:p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0" y="2343150"/>
            <a:ext cx="3291840" cy="822960"/>
          </a:xfrm>
          <a:prstGeom prst="rect">
            <a:avLst/>
          </a:prstGeom>
          <a:solidFill>
            <a:srgbClr val="4F46E5">
              <a:alpha val="7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₦22 Trillion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313445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AAAA"/>
                </a:solidFill>
              </a:rPr>
              <a:t>Nigerian Rental Market.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</a:rPr>
              <a:t>1/13</a:t>
            </a:r>
            <a:endParaRPr lang="en-US" sz="1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406ED82-CDA9-085A-3EA9-276772DB2AAE}"/>
              </a:ext>
            </a:extLst>
          </p:cNvPr>
          <p:cNvSpPr/>
          <p:nvPr/>
        </p:nvSpPr>
        <p:spPr>
          <a:xfrm>
            <a:off x="3533337" y="2133125"/>
            <a:ext cx="94955" cy="5978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666A37-DE11-6040-C8D5-FFC0A57E1613}"/>
              </a:ext>
            </a:extLst>
          </p:cNvPr>
          <p:cNvSpPr/>
          <p:nvPr/>
        </p:nvSpPr>
        <p:spPr>
          <a:xfrm>
            <a:off x="3830380" y="1417941"/>
            <a:ext cx="94955" cy="5978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2428587-C979-A341-37A8-F934E2FA0827}"/>
              </a:ext>
            </a:extLst>
          </p:cNvPr>
          <p:cNvSpPr/>
          <p:nvPr/>
        </p:nvSpPr>
        <p:spPr>
          <a:xfrm>
            <a:off x="3426172" y="1769012"/>
            <a:ext cx="94955" cy="5978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42855">
              <a:alpha val="45000"/>
            </a:srgbClr>
          </a:solidFill>
          <a:ln w="12700">
            <a:solidFill>
              <a:srgbClr val="44285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</a:rPr>
              <a:t>E-RentalHQ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2801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96112"/>
            <a:ext cx="804672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"A nurse earning ₦180,000/month lost her apartment because she couldn't produce ₦360,000 in 8 weeks. She could easily afford ₦30,000 monthly."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DDDDD"/>
                </a:solidFill>
              </a:rPr>
              <a:t>In Nigeria, 88 million renters must pay 1year rent upfront (₦300k–₦500k) = 12 months of median income.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265176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97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80%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2651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Can't pay lump sum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697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291840" y="3429000"/>
            <a:ext cx="2651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697480"/>
            <a:ext cx="265176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697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70M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126480" y="3429000"/>
            <a:ext cx="2651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Urban renters affected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problem isn't affordability. It's the lump sum requirement.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</a:rPr>
              <a:t>2/13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4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560">
              <a:alpha val="45000"/>
            </a:srgbClr>
          </a:solidFill>
          <a:ln w="12700">
            <a:solidFill>
              <a:srgbClr val="1A556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</a:rPr>
              <a:t>E-RentalHQ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Solution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</a:rPr>
              <a:t>We pay landlords annual rent upfront. Tenants repay us monthly.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3931920" cy="29260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For Tenants 🏠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657600" cy="2331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</a:rPr>
              <a:t>Pay-As-You-Rent subscribers Pay ₦250($0.18)/weekly or (₦1,000/</a:t>
            </a:r>
            <a:r>
              <a:rPr lang="en-US" sz="1200" dirty="0">
                <a:solidFill>
                  <a:schemeClr val="bg1"/>
                </a:solidFill>
              </a:rPr>
              <a:t>month</a:t>
            </a:r>
            <a:r>
              <a:rPr lang="en-US" sz="1200" dirty="0">
                <a:solidFill>
                  <a:srgbClr val="DDDDDD"/>
                </a:solidFill>
              </a:rPr>
              <a:t>) - No yearly subscription).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</a:rPr>
              <a:t>No lump sum stress.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</a:rPr>
              <a:t>Prospective tenants only pays ₦3,500/year.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</a:rPr>
              <a:t>Save ₦88k–₦138k in agent fees.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</a:rPr>
              <a:t>Secure GPS-verified properties at zero % commission.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</a:rPr>
              <a:t>AI voice navigation in local languages (5 languages).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Bolt-like turn-by-turn location navigation.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A location-aware live navigation chatbot.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</a:rPr>
              <a:t>Safety features (location sharing)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115568"/>
            <a:ext cx="3931920" cy="29260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188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For Landlords 🔑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74920" y="1627632"/>
            <a:ext cx="3657600" cy="2331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</a:rPr>
              <a:t>Get rent 60 days early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</a:rPr>
              <a:t>Verified tenants (BVN + income)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</a:rPr>
              <a:t>Zero vacancy risk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</a:rPr>
              <a:t>Complete dashboard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</a:rPr>
              <a:t>Guaranteed payment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</a:rPr>
              <a:t>Tenant management dashboard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4160520"/>
            <a:ext cx="6949440" cy="685800"/>
          </a:xfrm>
          <a:prstGeom prst="rect">
            <a:avLst/>
          </a:prstGeom>
          <a:solidFill>
            <a:srgbClr val="4F46E5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1605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No Agents. Direct Connection. Problem Solved.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</a:rPr>
              <a:t>3/13</a:t>
            </a:r>
            <a:endParaRPr lang="en-US" sz="1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757F7F8-2C58-57BA-518D-5C235AEB92CE}"/>
              </a:ext>
            </a:extLst>
          </p:cNvPr>
          <p:cNvSpPr/>
          <p:nvPr/>
        </p:nvSpPr>
        <p:spPr>
          <a:xfrm>
            <a:off x="2240280" y="4502892"/>
            <a:ext cx="94955" cy="5978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5298">
              <a:alpha val="45000"/>
            </a:srgbClr>
          </a:solidFill>
          <a:ln w="12700">
            <a:solidFill>
              <a:srgbClr val="2A529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</a:rPr>
              <a:t>E-RentalHQ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5 Unfair Advantages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</a:rPr>
              <a:t>What makes us different — what competitors can't replicate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13898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1. Float Income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53627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</a:rPr>
              <a:t>We invest monthly payments for 10 months before paying landlords, earning 15% - 8% returns from Nigeria’s Money Market. This is because it’s SEC regulated and offers high liquidity(24 -48 hour withdrawal) with low risk, steady income and capital preservation. This gives about ₦27k profit/tenant/year. At 100k tenants: ₦2.7B from float alone. 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14800" cy="13898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2. Domain Expertise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47218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</a:rPr>
              <a:t>Founders managed more than 45 properties for 2+ years. 80% lump sum struggle. - A lived experience.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4114800" cy="13898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3. GPS Verification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98094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</a:rPr>
              <a:t>Every property has GPS-tagged photos/videos preventing the average scam loss in Nigerian rentals market. Builds trust in a broken market.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560320"/>
            <a:ext cx="4114800" cy="13898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4. Multilingual (5M+ More Users)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98094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DDDDDD"/>
                </a:solidFill>
              </a:rPr>
              <a:t>AI location-aware chatbot, Bolt-like turn-by-turn navigation system, AI voice navigation in local languages(Pidgin, Yoruba, Igbo, Hausa).  - unlocks 5M+ users base others ignore.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114800"/>
            <a:ext cx="8595360" cy="7498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330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</a:rPr>
              <a:t>5. Credit Bureau Building (Data Moat)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4256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</a:rPr>
              <a:t>Creating Nigeria's first rental payment credit scores. After 12 months, users get credit access. Network effect: more data = better scores = more users.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</a:rPr>
              <a:t>4/13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2C7C">
              <a:alpha val="45000"/>
            </a:srgbClr>
          </a:solidFill>
          <a:ln w="12700">
            <a:solidFill>
              <a:srgbClr val="4A2C7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</a:rPr>
              <a:t>E-RentalHQ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Business Model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</a:rPr>
              <a:t>5 Revenue Streams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64008" cy="6400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841248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972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</a:rPr>
              <a:t>1. Daily Service Fee: ₦12,000/tenant/year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3624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</a:rPr>
              <a:t>Tenants pay ₦250/week for flexible payment service.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19656"/>
            <a:ext cx="64008" cy="6400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819656"/>
            <a:ext cx="841248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6537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</a:rPr>
              <a:t>2. Float Income: ₦27,000/tenant/year -  PRIMARY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1305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DDDDDD"/>
                </a:solidFill>
              </a:rPr>
              <a:t>We invest(Nigeria’s Money Market Fund) tenant monthly payments for 10 months before paying landlords. At 100,000 tenants: ₦2.7B/year from float alone. A high liquidity(24-48 hours withdrawal), low-risk steady income and capital preservation regulated by the SEC.</a:t>
            </a:r>
            <a:endParaRPr lang="en-NG" dirty="0"/>
          </a:p>
        </p:txBody>
      </p:sp>
      <p:sp>
        <p:nvSpPr>
          <p:cNvPr id="14" name="Shape 12"/>
          <p:cNvSpPr/>
          <p:nvPr/>
        </p:nvSpPr>
        <p:spPr>
          <a:xfrm>
            <a:off x="274320" y="2587752"/>
            <a:ext cx="64008" cy="6400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587752"/>
            <a:ext cx="841248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3347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</a:rPr>
              <a:t>3. Registration: ₦4,000 one-time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28986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</a:rPr>
              <a:t>KYC, BVN verification, onboarding costs.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55848"/>
            <a:ext cx="64008" cy="6400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355848"/>
            <a:ext cx="841248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015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</a:rPr>
              <a:t>4. B2B Corporate: ₦2M–₦5M per client/year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6667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</a:rPr>
              <a:t>Companies pay ₦8k–₦10k per employee as housing benefit.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23944"/>
            <a:ext cx="64008" cy="6400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123944"/>
            <a:ext cx="841248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NG" dirty="0"/>
          </a:p>
        </p:txBody>
      </p:sp>
      <p:sp>
        <p:nvSpPr>
          <p:cNvPr id="24" name="Text 22"/>
          <p:cNvSpPr/>
          <p:nvPr/>
        </p:nvSpPr>
        <p:spPr>
          <a:xfrm>
            <a:off x="594360" y="416966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</a:rPr>
              <a:t>5. Ads + Premium: ₦4M+/year by Year 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</a:rPr>
              <a:t>Featured property listings, local business ads, furniture ads, etc.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</a:rPr>
              <a:t>5/13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</a:rPr>
              <a:t>E-RentalHQ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9575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Unit Economics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908495" y="690372"/>
            <a:ext cx="2651760" cy="10058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29132" y="640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₦39k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29132" y="1344168"/>
            <a:ext cx="26517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Annual Revenue/Tenant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822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035040" y="822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3504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2651760" cy="24688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</a:rPr>
              <a:t>Year 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" y="2359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5760" y="2852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Tenants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₦21M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5760" y="35478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Revenue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840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1920240"/>
            <a:ext cx="2651760" cy="24688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</a:rPr>
              <a:t>Year 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00400" y="2359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15,000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00400" y="2852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Tenants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₦586M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200400" y="35478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Revenue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3840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1920240"/>
            <a:ext cx="2651760" cy="24688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</a:rPr>
              <a:t>Year 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035040" y="23591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100,000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035040" y="2852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Tenants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0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₦3.9B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035040" y="35478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Revenue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3840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4507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</a:rPr>
              <a:t>6/13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A1C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76D77">
              <a:alpha val="45000"/>
            </a:srgbClr>
          </a:solidFill>
          <a:ln w="12700">
            <a:solidFill>
              <a:srgbClr val="D76D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</a:rPr>
              <a:t>E-RentalHQ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Traction &amp; Validation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16916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45+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EEEEE"/>
                </a:solidFill>
              </a:rPr>
              <a:t>Properties Managed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EEEEE"/>
                </a:solidFill>
              </a:rPr>
              <a:t>(2+ years experience)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16916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515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97%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846320" y="19019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EEEEE"/>
                </a:solidFill>
              </a:rPr>
              <a:t>Of surveyed tenants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EEEEE"/>
                </a:solidFill>
              </a:rPr>
              <a:t>prefer monthly payments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023360" cy="16916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718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₦65k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7200" y="38221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EEEEE"/>
                </a:solidFill>
              </a:rPr>
              <a:t>Avg scam loss prevented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EEEEE"/>
                </a:solidFill>
              </a:rPr>
              <a:t>by GPS verification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834640"/>
            <a:ext cx="4023360" cy="16916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9718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5M+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846320" y="38221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EEEEE"/>
                </a:solidFill>
              </a:rPr>
              <a:t>Extra potential users unlocked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EEEEE"/>
                </a:solidFill>
              </a:rPr>
              <a:t>by multilingual 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</a:rPr>
              <a:t>7/13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4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1B280">
              <a:alpha val="45000"/>
            </a:srgbClr>
          </a:solidFill>
          <a:ln w="12700">
            <a:solidFill>
              <a:srgbClr val="71B28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</a:rPr>
              <a:t>E-RentalHQ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Go-to-Market Strategy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43200" cy="3931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2743200" cy="45720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Port Harcourt Pilot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728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</a:rPr>
              <a:t>Months 1–6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256032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DDDDD"/>
                </a:solidFill>
              </a:rPr>
              <a:t>Port Harcourt city 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DDDDD"/>
                </a:solidFill>
              </a:rPr>
              <a:t>500 tenants via partnerships and adverts on socials, radio, referrals and others.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DDDDD"/>
                </a:solidFill>
              </a:rPr>
              <a:t>Refine onboarding flow.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743200" cy="3931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868680"/>
            <a:ext cx="2743200" cy="45720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389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Port Harcourt &amp; Lagos Expansion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1840" y="1728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</a:rPr>
              <a:t>Months 7–24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029968"/>
            <a:ext cx="256032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DDDDD"/>
                </a:solidFill>
              </a:rPr>
              <a:t>Expand to more urban LGAs in Rivers state and then to logos state.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DDDDD"/>
                </a:solidFill>
              </a:rPr>
              <a:t>Launch B2B corporate housing.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DDDDD"/>
                </a:solidFill>
              </a:rPr>
              <a:t>15,000 tenants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DDDDD"/>
                </a:solidFill>
              </a:rPr>
              <a:t>Launch credit scoring beta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868680"/>
            <a:ext cx="2743200" cy="3931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868680"/>
            <a:ext cx="2743200" cy="45720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389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National + W. Africa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1728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</a:rPr>
              <a:t>Years 3–5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2029968"/>
            <a:ext cx="256032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DDDDD"/>
                </a:solidFill>
              </a:rPr>
              <a:t>Abuja, Kano, Ibadan and all urban cities.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DDDDD"/>
                </a:solidFill>
              </a:rPr>
              <a:t>Ghana + Kenya entry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DDDDD"/>
                </a:solidFill>
              </a:rPr>
              <a:t>100,000 tenants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DDDDD"/>
                </a:solidFill>
              </a:rPr>
              <a:t>Full credit bureau operations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</a:rPr>
              <a:t>8/13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1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A2D82">
              <a:alpha val="45000"/>
            </a:srgbClr>
          </a:solidFill>
          <a:ln w="12700">
            <a:solidFill>
              <a:srgbClr val="5A2D8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</a:rPr>
              <a:t>E-RentalHQ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Competitive Landscape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10312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804672"/>
            <a:ext cx="210312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8046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E-RentalHQ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210312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8046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Traditional Agents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20840" y="804672"/>
            <a:ext cx="210312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8046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PropTech Apps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225296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225296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Monthly Payment Option(with zero % fee/commission).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23160" y="1225296"/>
            <a:ext cx="2103120" cy="429768"/>
          </a:xfrm>
          <a:prstGeom prst="rect">
            <a:avLst/>
          </a:prstGeom>
          <a:solidFill>
            <a:srgbClr val="4ADE80">
              <a:alpha val="1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1225296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</a:rPr>
              <a:t>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225296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225296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1225296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1225296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1700784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70078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GPS Verified Properties.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23160" y="1700784"/>
            <a:ext cx="2103120" cy="429768"/>
          </a:xfrm>
          <a:prstGeom prst="rect">
            <a:avLst/>
          </a:prstGeom>
          <a:solidFill>
            <a:srgbClr val="4ADE80">
              <a:alpha val="1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170078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</a:rPr>
              <a:t>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1700784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70078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20840" y="1700784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170078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Partial(not same as ours)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176272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176272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DDDDDD"/>
                </a:solidFill>
              </a:rPr>
              <a:t>Multilingual AI, Turn-by-turn navigation system, Live navigation chatbot, share my location.</a:t>
            </a:r>
          </a:p>
        </p:txBody>
      </p:sp>
      <p:sp>
        <p:nvSpPr>
          <p:cNvPr id="31" name="Shape 29"/>
          <p:cNvSpPr/>
          <p:nvPr/>
        </p:nvSpPr>
        <p:spPr>
          <a:xfrm>
            <a:off x="2423160" y="2176272"/>
            <a:ext cx="2103120" cy="429768"/>
          </a:xfrm>
          <a:prstGeom prst="rect">
            <a:avLst/>
          </a:prstGeom>
          <a:solidFill>
            <a:srgbClr val="4ADE80">
              <a:alpha val="1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2176272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</a:rPr>
              <a:t>✅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2176272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2176272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❌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20840" y="2176272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2176272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❌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2651760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265176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Pays Landlord Upfront.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23160" y="2651760"/>
            <a:ext cx="2103120" cy="429768"/>
          </a:xfrm>
          <a:prstGeom prst="rect">
            <a:avLst/>
          </a:prstGeom>
          <a:solidFill>
            <a:srgbClr val="4ADE80">
              <a:alpha val="1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23160" y="265176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</a:rPr>
              <a:t>✅ (60 days early)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0" y="2651760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265176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❌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720840" y="2651760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265176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❌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3127248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127248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Credit Bureau Building.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423160" y="3127248"/>
            <a:ext cx="2103120" cy="429768"/>
          </a:xfrm>
          <a:prstGeom prst="rect">
            <a:avLst/>
          </a:prstGeom>
          <a:solidFill>
            <a:srgbClr val="4ADE80">
              <a:alpha val="1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23160" y="3127248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</a:rPr>
              <a:t>✅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0" y="3127248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0" y="3127248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❌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720840" y="3127248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3127248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❌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3602736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602736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Float Income Model.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423160" y="3602736"/>
            <a:ext cx="2103120" cy="429768"/>
          </a:xfrm>
          <a:prstGeom prst="rect">
            <a:avLst/>
          </a:prstGeom>
          <a:solidFill>
            <a:srgbClr val="4ADE80">
              <a:alpha val="1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23160" y="3602736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</a:rPr>
              <a:t>✅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0" y="3602736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0" y="3602736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❌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720840" y="3602736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0840" y="3602736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❌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74320" y="4078224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07822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Zero Agent Fees.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423160" y="4078224"/>
            <a:ext cx="2103120" cy="429768"/>
          </a:xfrm>
          <a:prstGeom prst="rect">
            <a:avLst/>
          </a:prstGeom>
          <a:solidFill>
            <a:srgbClr val="4ADE80">
              <a:alpha val="1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NG" dirty="0"/>
          </a:p>
        </p:txBody>
      </p:sp>
      <p:sp>
        <p:nvSpPr>
          <p:cNvPr id="64" name="Text 62"/>
          <p:cNvSpPr/>
          <p:nvPr/>
        </p:nvSpPr>
        <p:spPr>
          <a:xfrm>
            <a:off x="2423160" y="407822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</a:rPr>
              <a:t>✅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572000" y="4078224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0" y="407822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❌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720840" y="4078224"/>
            <a:ext cx="2103120" cy="4297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20840" y="407822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</a:rPr>
              <a:t>Some(but charged huge fees)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</a:rPr>
              <a:t>9/13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C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5298">
              <a:alpha val="45000"/>
            </a:srgbClr>
          </a:solidFill>
          <a:ln w="12700">
            <a:solidFill>
              <a:srgbClr val="2A529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</a:rPr>
              <a:t>E-RentalHQ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Ask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</a:rPr>
              <a:t>Seed Round: ₦70M ($50,000 USD)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097280" cy="7315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40%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463040" y="1280160"/>
            <a:ext cx="740664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325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60934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App development, BVN verification API, GPS infrastructure, Facial verification API.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1097280" cy="7315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94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30%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463040" y="2194560"/>
            <a:ext cx="740664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2240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Operations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252374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Port Harcourt pilot - first 500 tenants, staff (2 FTE), legal setup.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1097280" cy="7315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1089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20%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463040" y="3108960"/>
            <a:ext cx="740664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3154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Float Capital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343814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Pay first landlords -  proves the model works.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023360"/>
            <a:ext cx="1097280" cy="7315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0233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10%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463040" y="4023360"/>
            <a:ext cx="740664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40690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Marketing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45920" y="435254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Partnerships, socials, referrals, onboarding, community outreach.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</a:rPr>
              <a:t>500 tenants → Profitable → Series A ready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</a:rPr>
              <a:t>10/13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B55">
              <a:alpha val="45000"/>
            </a:srgbClr>
          </a:solidFill>
          <a:ln w="12700">
            <a:solidFill>
              <a:srgbClr val="243B5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</a:rPr>
              <a:t>E-RentalHQ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Team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280160" y="77724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777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F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743200" cy="29260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Founders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039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A5FA"/>
                </a:solidFill>
              </a:rPr>
              <a:t>Rental Market Expert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2468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2+ years managing 45+ properties across Port Harcourt. Personally, experienced the lump sum crisis. So, we built e-</a:t>
            </a:r>
            <a:r>
              <a:rPr lang="en-US" sz="1100" dirty="0" err="1">
                <a:solidFill>
                  <a:srgbClr val="CCCCCC"/>
                </a:solidFill>
              </a:rPr>
              <a:t>RentalHQ</a:t>
            </a:r>
            <a:r>
              <a:rPr lang="en-US" sz="1100" dirty="0">
                <a:solidFill>
                  <a:srgbClr val="CCCCCC"/>
                </a:solidFill>
              </a:rPr>
              <a:t> to solve 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77724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777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154680" y="1600200"/>
            <a:ext cx="2743200" cy="29260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691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 Lead (Hiring)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2039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A5FA"/>
                </a:solidFill>
              </a:rPr>
              <a:t>Mobile + Backend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377440"/>
            <a:ext cx="2468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Building: React Native app, BVN verification, GPS tagging,  navigation, AI multilingual chatbot, payment infrastructure.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0" y="77724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777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O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126480" y="1600200"/>
            <a:ext cx="2743200" cy="29260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691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Operations Lead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2039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A5FA"/>
                </a:solidFill>
              </a:rPr>
              <a:t>Port Harcourt Ops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377440"/>
            <a:ext cx="2468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Tenant onboarding, landlord relationships, KYC verification, partnership management.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</a:rPr>
              <a:t>11/13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364">
              <a:alpha val="45000"/>
            </a:srgbClr>
          </a:solidFill>
          <a:ln w="12700">
            <a:solidFill>
              <a:srgbClr val="2C536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80000"/>
                  </a:srgbClr>
                </a:solidFill>
              </a:rPr>
              <a:t>E-RentalHQ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Risks &amp; Mitigations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1371600" cy="658368"/>
          </a:xfrm>
          <a:prstGeom prst="rect">
            <a:avLst/>
          </a:prstGeom>
          <a:solidFill>
            <a:srgbClr val="4ADE80">
              <a:alpha val="50000"/>
            </a:srgbClr>
          </a:solidFill>
          <a:ln w="12700">
            <a:solidFill>
              <a:srgbClr val="4ADE80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841248"/>
            <a:ext cx="71323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88696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</a:rPr>
              <a:t>Default Risk: BVN + income verification, employer guarantors, &lt;5% actual default rate from managed portfolio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1371600" cy="658368"/>
          </a:xfrm>
          <a:prstGeom prst="rect">
            <a:avLst/>
          </a:prstGeom>
          <a:solidFill>
            <a:srgbClr val="FBBF24">
              <a:alpha val="50000"/>
            </a:srgbClr>
          </a:solidFill>
          <a:ln w="12700">
            <a:solidFill>
              <a:srgbClr val="FBBF24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6420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737360" y="1664208"/>
            <a:ext cx="71323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170992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</a:rPr>
              <a:t>Regulatory Risk: Structured as rent financing (not lending), avoiding CBN banking regulations. To be legal framework ready.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87168"/>
            <a:ext cx="1371600" cy="658368"/>
          </a:xfrm>
          <a:prstGeom prst="rect">
            <a:avLst/>
          </a:prstGeom>
          <a:solidFill>
            <a:srgbClr val="FBBF24">
              <a:alpha val="50000"/>
            </a:srgbClr>
          </a:solidFill>
          <a:ln w="12700">
            <a:solidFill>
              <a:srgbClr val="FBBF24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4871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737360" y="2487168"/>
            <a:ext cx="71323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53288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</a:rPr>
              <a:t>FX / Inflation Risk: Naira-denominated operations. Float investment (15% - 18% returns hedge inflation).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310128"/>
            <a:ext cx="1371600" cy="658368"/>
          </a:xfrm>
          <a:prstGeom prst="rect">
            <a:avLst/>
          </a:prstGeom>
          <a:solidFill>
            <a:srgbClr val="4ADE80">
              <a:alpha val="50000"/>
            </a:srgbClr>
          </a:solidFill>
          <a:ln w="12700">
            <a:solidFill>
              <a:srgbClr val="4ADE80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101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737360" y="3310128"/>
            <a:ext cx="71323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335584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</a:rPr>
              <a:t>Landlord Trust: 60-day advance + higher yield = powerful incentive. Partnership network provides proof.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133088"/>
            <a:ext cx="1371600" cy="658368"/>
          </a:xfrm>
          <a:prstGeom prst="rect">
            <a:avLst/>
          </a:prstGeom>
          <a:solidFill>
            <a:srgbClr val="4ADE80">
              <a:alpha val="50000"/>
            </a:srgbClr>
          </a:solidFill>
          <a:ln w="12700">
            <a:solidFill>
              <a:srgbClr val="4ADE80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1330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737360" y="4133088"/>
            <a:ext cx="71323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74520" y="417880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</a:rPr>
              <a:t>Competition from Banks: Banks won't serve informal sector.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</a:rPr>
              <a:t>12/13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3460">
              <a:alpha val="45000"/>
            </a:srgbClr>
          </a:solidFill>
          <a:ln w="12700">
            <a:solidFill>
              <a:srgbClr val="0F346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Join Us in Fixing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Nigeria's Rental Crisis.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71600" y="1920240"/>
            <a:ext cx="6400800" cy="1005840"/>
          </a:xfrm>
          <a:prstGeom prst="rect">
            <a:avLst/>
          </a:prstGeom>
          <a:solidFill>
            <a:srgbClr val="4F46E5"/>
          </a:solidFill>
          <a:ln w="12700">
            <a:solidFill>
              <a:srgbClr val="6366F1"/>
            </a:solidFill>
            <a:prstDash val="solid"/>
          </a:ln>
          <a:effectLst>
            <a:outerShdw blurRad="2540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9202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₦70M($50,000) Seed → 500 Tenants → Scale to ₦3.9B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090672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CCCCC"/>
                </a:solidFill>
              </a:rPr>
              <a:t>70 million(80% renters) Nigerians are waiting.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CCCCCC"/>
                </a:solidFill>
              </a:rPr>
              <a:t>Every month they can't pay lump-sum, they lose their homes.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CCCCCC"/>
                </a:solidFill>
              </a:rPr>
              <a:t>We have the solution. We need the fuel.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0" y="4133088"/>
            <a:ext cx="4572000" cy="658368"/>
          </a:xfrm>
          <a:prstGeom prst="rect">
            <a:avLst/>
          </a:prstGeom>
          <a:solidFill>
            <a:srgbClr val="4ADE80">
              <a:alpha val="8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413308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hlinkClick r:id="rId3"/>
              </a:rPr>
              <a:t>eRentalhq@gmail.com</a:t>
            </a:r>
            <a:endParaRPr lang="en-US" sz="1600" b="1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stephenthomus6@gmail.com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</a:rPr>
              <a:t>13/13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7512</TotalTime>
  <Words>1231</Words>
  <Application>Microsoft Office PowerPoint</Application>
  <PresentationFormat>On-screen Show (16:9)</PresentationFormat>
  <Paragraphs>232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E-RentalHQ Pitch Deck</dc:title>
  <dc:subject>PptxGenJS Presentation</dc:subject>
  <dc:creator>PptxGenJS</dc:creator>
  <cp:lastModifiedBy>Steve thom</cp:lastModifiedBy>
  <cp:revision>14</cp:revision>
  <dcterms:created xsi:type="dcterms:W3CDTF">2026-03-06T09:06:10Z</dcterms:created>
  <dcterms:modified xsi:type="dcterms:W3CDTF">2026-03-11T18:57:58Z</dcterms:modified>
</cp:coreProperties>
</file>